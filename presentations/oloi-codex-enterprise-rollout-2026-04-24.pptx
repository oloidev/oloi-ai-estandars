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15"/>
  </p:normalViewPr>
  <p:slideViewPr>
    <p:cSldViewPr snapToGrid="0">
      <p:cViewPr varScale="1">
        <p:scale>
          <a:sx n="79" d="100"/>
          <a:sy n="79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514345D6-6CE2-4A51-8D03-B387B76DA5A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905250" cy="5334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" name="eyebrow-text">
            <a:extLst>
              <a:ext uri="{FF2B5EF4-FFF2-40B4-BE49-F238E27FC236}">
                <a16:creationId xmlns:a16="http://schemas.microsoft.com/office/drawing/2014/main" id="{7E859B23-637D-461F-9858-F4C3F773BEB2}"/>
              </a:ext>
            </a:extLst>
          </p:cNvPr>
          <p:cNvSpPr>
            <a:spLocks noGrp="1"/>
          </p:cNvSpPr>
          <p:nvPr/>
        </p:nvSpPr>
        <p:spPr>
          <a:xfrm>
            <a:off x="895350" y="781050"/>
            <a:ext cx="3486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 dirty="0" err="1">
                <a:solidFill>
                  <a:srgbClr val="0F766E"/>
                </a:solidFill>
              </a:rPr>
              <a:t>Conferencia</a:t>
            </a:r>
            <a:r>
              <a:rPr sz="1800" b="1" dirty="0">
                <a:solidFill>
                  <a:srgbClr val="0F766E"/>
                </a:solidFill>
              </a:rPr>
              <a:t> interna | Abril 24, 2026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DD25BB9A-AB71-4577-B7FE-1C18F513B53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277100" cy="2171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0F172A"/>
                </a:solidFill>
              </a:defRPr>
            </a:pPr>
            <a:r>
              <a:rPr lang="en-US" sz="5700" b="1" dirty="0">
                <a:solidFill>
                  <a:srgbClr val="0F172A"/>
                </a:solidFill>
              </a:rPr>
              <a:t>Desarrollo con IA</a:t>
            </a:r>
            <a:endParaRPr sz="5700" b="1" dirty="0">
              <a:solidFill>
                <a:srgbClr val="0F172A"/>
              </a:solidFill>
            </a:endParaRPr>
          </a:p>
        </p:txBody>
      </p:sp>
      <p:sp>
        <p:nvSpPr>
          <p:cNvPr id="4" name="cover-rule">
            <a:extLst>
              <a:ext uri="{FF2B5EF4-FFF2-40B4-BE49-F238E27FC236}">
                <a16:creationId xmlns:a16="http://schemas.microsoft.com/office/drawing/2014/main" id="{A536FCD8-87CE-4F0C-8172-6B0D4856CFD2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2286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16EF2915-360C-4719-9A18-D1D45851FA77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84582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325">
                <a:solidFill>
                  <a:srgbClr val="475569"/>
                </a:solidFill>
              </a:defRPr>
            </a:pPr>
            <a:r>
              <a:rPr sz="2325" dirty="0">
                <a:solidFill>
                  <a:srgbClr val="475569"/>
                </a:solidFill>
              </a:rPr>
              <a:t>Guía </a:t>
            </a:r>
            <a:r>
              <a:rPr sz="2325" dirty="0" err="1">
                <a:solidFill>
                  <a:srgbClr val="475569"/>
                </a:solidFill>
              </a:rPr>
              <a:t>ejecutiva</a:t>
            </a:r>
            <a:r>
              <a:rPr sz="2325" dirty="0">
                <a:solidFill>
                  <a:srgbClr val="475569"/>
                </a:solidFill>
              </a:rPr>
              <a:t> y </a:t>
            </a:r>
            <a:r>
              <a:rPr sz="2325" dirty="0" err="1">
                <a:solidFill>
                  <a:srgbClr val="475569"/>
                </a:solidFill>
              </a:rPr>
              <a:t>técnica</a:t>
            </a:r>
            <a:r>
              <a:rPr sz="2325" dirty="0">
                <a:solidFill>
                  <a:srgbClr val="475569"/>
                </a:solidFill>
              </a:rPr>
              <a:t> para </a:t>
            </a:r>
            <a:r>
              <a:rPr sz="2325" dirty="0" err="1">
                <a:solidFill>
                  <a:srgbClr val="475569"/>
                </a:solidFill>
              </a:rPr>
              <a:t>instalar</a:t>
            </a:r>
            <a:r>
              <a:rPr sz="2325" dirty="0">
                <a:solidFill>
                  <a:srgbClr val="475569"/>
                </a:solidFill>
              </a:rPr>
              <a:t> Codex </a:t>
            </a:r>
            <a:r>
              <a:rPr sz="2325" dirty="0" err="1">
                <a:solidFill>
                  <a:srgbClr val="475569"/>
                </a:solidFill>
              </a:rPr>
              <a:t>en</a:t>
            </a:r>
            <a:r>
              <a:rPr sz="2325" dirty="0">
                <a:solidFill>
                  <a:srgbClr val="475569"/>
                </a:solidFill>
              </a:rPr>
              <a:t> macOS, </a:t>
            </a:r>
            <a:r>
              <a:rPr sz="2325" dirty="0" err="1">
                <a:solidFill>
                  <a:srgbClr val="475569"/>
                </a:solidFill>
              </a:rPr>
              <a:t>conectar</a:t>
            </a:r>
            <a:r>
              <a:rPr sz="2325" dirty="0">
                <a:solidFill>
                  <a:srgbClr val="475569"/>
                </a:solidFill>
              </a:rPr>
              <a:t> </a:t>
            </a:r>
            <a:r>
              <a:rPr sz="2325" dirty="0" err="1">
                <a:solidFill>
                  <a:srgbClr val="475569"/>
                </a:solidFill>
              </a:rPr>
              <a:t>el</a:t>
            </a:r>
            <a:r>
              <a:rPr sz="2325" dirty="0">
                <a:solidFill>
                  <a:srgbClr val="475569"/>
                </a:solidFill>
              </a:rPr>
              <a:t> </a:t>
            </a:r>
            <a:r>
              <a:rPr sz="2325" dirty="0" err="1">
                <a:solidFill>
                  <a:srgbClr val="475569"/>
                </a:solidFill>
              </a:rPr>
              <a:t>repositorio</a:t>
            </a:r>
            <a:r>
              <a:rPr sz="2325" dirty="0">
                <a:solidFill>
                  <a:srgbClr val="475569"/>
                </a:solidFill>
              </a:rPr>
              <a:t> </a:t>
            </a:r>
            <a:r>
              <a:rPr sz="2325" dirty="0" err="1">
                <a:solidFill>
                  <a:srgbClr val="475569"/>
                </a:solidFill>
              </a:rPr>
              <a:t>oloi</a:t>
            </a:r>
            <a:r>
              <a:rPr sz="2325" dirty="0">
                <a:solidFill>
                  <a:srgbClr val="475569"/>
                </a:solidFill>
              </a:rPr>
              <a:t>-ai-</a:t>
            </a:r>
            <a:r>
              <a:rPr sz="2325" dirty="0" err="1">
                <a:solidFill>
                  <a:srgbClr val="475569"/>
                </a:solidFill>
              </a:rPr>
              <a:t>estandars</a:t>
            </a:r>
            <a:r>
              <a:rPr sz="2325" dirty="0">
                <a:solidFill>
                  <a:srgbClr val="475569"/>
                </a:solidFill>
              </a:rPr>
              <a:t> y </a:t>
            </a:r>
            <a:r>
              <a:rPr sz="2325" dirty="0" err="1">
                <a:solidFill>
                  <a:srgbClr val="475569"/>
                </a:solidFill>
              </a:rPr>
              <a:t>operar</a:t>
            </a:r>
            <a:r>
              <a:rPr sz="2325" dirty="0">
                <a:solidFill>
                  <a:srgbClr val="475569"/>
                </a:solidFill>
              </a:rPr>
              <a:t> </a:t>
            </a:r>
            <a:r>
              <a:rPr sz="2325" dirty="0" err="1">
                <a:solidFill>
                  <a:srgbClr val="475569"/>
                </a:solidFill>
              </a:rPr>
              <a:t>el</a:t>
            </a:r>
            <a:r>
              <a:rPr sz="2325" dirty="0">
                <a:solidFill>
                  <a:srgbClr val="475569"/>
                </a:solidFill>
              </a:rPr>
              <a:t> marketplace OLOI Enterprise Plugins con Laravel, Flutter y Product Analyst.</a:t>
            </a:r>
          </a:p>
        </p:txBody>
      </p:sp>
      <p:sp>
        <p:nvSpPr>
          <p:cNvPr id="6" name="cover-footer">
            <a:extLst>
              <a:ext uri="{FF2B5EF4-FFF2-40B4-BE49-F238E27FC236}">
                <a16:creationId xmlns:a16="http://schemas.microsoft.com/office/drawing/2014/main" id="{761CF8EC-FD28-4504-87EF-35EF82B21D71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78867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 dirty="0" err="1">
                <a:solidFill>
                  <a:srgbClr val="0F766E"/>
                </a:solidFill>
              </a:rPr>
              <a:t>Resultado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esperado</a:t>
            </a:r>
            <a:r>
              <a:rPr sz="1800" b="1" dirty="0">
                <a:solidFill>
                  <a:srgbClr val="0F766E"/>
                </a:solidFill>
              </a:rPr>
              <a:t>: </a:t>
            </a:r>
            <a:r>
              <a:rPr sz="1800" b="1" dirty="0" err="1">
                <a:solidFill>
                  <a:srgbClr val="0F766E"/>
                </a:solidFill>
              </a:rPr>
              <a:t>equipo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productivo</a:t>
            </a:r>
            <a:r>
              <a:rPr sz="1800" b="1" dirty="0">
                <a:solidFill>
                  <a:srgbClr val="0F766E"/>
                </a:solidFill>
              </a:rPr>
              <a:t>, </a:t>
            </a:r>
            <a:r>
              <a:rPr sz="1800" b="1" dirty="0" err="1">
                <a:solidFill>
                  <a:srgbClr val="0F766E"/>
                </a:solidFill>
              </a:rPr>
              <a:t>catálogo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gobernado</a:t>
            </a:r>
            <a:r>
              <a:rPr sz="1800" b="1" dirty="0">
                <a:solidFill>
                  <a:srgbClr val="0F766E"/>
                </a:solidFill>
              </a:rPr>
              <a:t> y </a:t>
            </a:r>
            <a:r>
              <a:rPr sz="1800" b="1" dirty="0" err="1">
                <a:solidFill>
                  <a:srgbClr val="0F766E"/>
                </a:solidFill>
              </a:rPr>
              <a:t>adopción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repetible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por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dominio</a:t>
            </a:r>
            <a:r>
              <a:rPr sz="1800" b="1" dirty="0">
                <a:solidFill>
                  <a:srgbClr val="0F766E"/>
                </a:solidFill>
              </a:rPr>
              <a:t>.</a:t>
            </a:r>
          </a:p>
        </p:txBody>
      </p:sp>
      <p:sp>
        <p:nvSpPr>
          <p:cNvPr id="7" name="cover-visual-shell">
            <a:extLst>
              <a:ext uri="{FF2B5EF4-FFF2-40B4-BE49-F238E27FC236}">
                <a16:creationId xmlns:a16="http://schemas.microsoft.com/office/drawing/2014/main" id="{96F3F0ED-6682-41DD-9257-45E4465BBC41}"/>
              </a:ext>
            </a:extLst>
          </p:cNvPr>
          <p:cNvSpPr>
            <a:spLocks noGrp="1"/>
          </p:cNvSpPr>
          <p:nvPr/>
        </p:nvSpPr>
        <p:spPr>
          <a:xfrm>
            <a:off x="10607040" y="685800"/>
            <a:ext cx="6995160" cy="8915400"/>
          </a:xfrm>
          <a:prstGeom prst="roundRect">
            <a:avLst>
              <a:gd name="adj" fmla="val 1089"/>
            </a:avLst>
          </a:prstGeom>
          <a:solidFill>
            <a:srgbClr val="0B1220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9" name="cover-card-1">
            <a:extLst>
              <a:ext uri="{FF2B5EF4-FFF2-40B4-BE49-F238E27FC236}">
                <a16:creationId xmlns:a16="http://schemas.microsoft.com/office/drawing/2014/main" id="{5C3B1102-F6FF-41D0-B4BB-FBC33C37FA7E}"/>
              </a:ext>
            </a:extLst>
          </p:cNvPr>
          <p:cNvSpPr>
            <a:spLocks noGrp="1"/>
          </p:cNvSpPr>
          <p:nvPr/>
        </p:nvSpPr>
        <p:spPr>
          <a:xfrm>
            <a:off x="10949940" y="3524250"/>
            <a:ext cx="6309360" cy="144780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0" name="cover-card-1-text">
            <a:extLst>
              <a:ext uri="{FF2B5EF4-FFF2-40B4-BE49-F238E27FC236}">
                <a16:creationId xmlns:a16="http://schemas.microsoft.com/office/drawing/2014/main" id="{C3611ED5-4C1B-4EDE-A0B0-54E6076147FA}"/>
              </a:ext>
            </a:extLst>
          </p:cNvPr>
          <p:cNvSpPr>
            <a:spLocks noGrp="1"/>
          </p:cNvSpPr>
          <p:nvPr/>
        </p:nvSpPr>
        <p:spPr>
          <a:xfrm>
            <a:off x="11182350" y="3714750"/>
            <a:ext cx="58483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 plugins privados</a:t>
            </a:r>
          </a:p>
          <a:p>
            <a:pPr>
              <a:lnSpc>
                <a:spcPct val="120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29 skills con iconos y metadata</a:t>
            </a:r>
          </a:p>
          <a:p>
            <a:pPr>
              <a:lnSpc>
                <a:spcPct val="120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 marketplace interno de repo</a:t>
            </a:r>
          </a:p>
        </p:txBody>
      </p:sp>
      <p:sp>
        <p:nvSpPr>
          <p:cNvPr id="11" name="cover-card-2">
            <a:extLst>
              <a:ext uri="{FF2B5EF4-FFF2-40B4-BE49-F238E27FC236}">
                <a16:creationId xmlns:a16="http://schemas.microsoft.com/office/drawing/2014/main" id="{B1E7F194-96A7-4242-BEE0-5E88FCFD36B1}"/>
              </a:ext>
            </a:extLst>
          </p:cNvPr>
          <p:cNvSpPr>
            <a:spLocks noGrp="1"/>
          </p:cNvSpPr>
          <p:nvPr/>
        </p:nvSpPr>
        <p:spPr>
          <a:xfrm>
            <a:off x="10949940" y="5249638"/>
            <a:ext cx="6309360" cy="1619250"/>
          </a:xfrm>
          <a:prstGeom prst="roundRect">
            <a:avLst>
              <a:gd name="adj" fmla="val 4706"/>
            </a:avLst>
          </a:prstGeom>
          <a:solidFill>
            <a:srgbClr val="2563EB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2" name="cover-card-2-text">
            <a:extLst>
              <a:ext uri="{FF2B5EF4-FFF2-40B4-BE49-F238E27FC236}">
                <a16:creationId xmlns:a16="http://schemas.microsoft.com/office/drawing/2014/main" id="{A7347919-20DD-4119-98FF-E17CD3320668}"/>
              </a:ext>
            </a:extLst>
          </p:cNvPr>
          <p:cNvSpPr>
            <a:spLocks noGrp="1"/>
          </p:cNvSpPr>
          <p:nvPr/>
        </p:nvSpPr>
        <p:spPr>
          <a:xfrm>
            <a:off x="11182350" y="5630638"/>
            <a:ext cx="58483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 dirty="0">
                <a:solidFill>
                  <a:srgbClr val="FFFFFF"/>
                </a:solidFill>
              </a:rPr>
              <a:t>Stack actual: Laravel backend, Flutter mobile y Product Analyst para </a:t>
            </a:r>
            <a:r>
              <a:rPr sz="2100" b="1" dirty="0" err="1">
                <a:solidFill>
                  <a:srgbClr val="FFFFFF"/>
                </a:solidFill>
              </a:rPr>
              <a:t>historias</a:t>
            </a:r>
            <a:r>
              <a:rPr sz="2100" b="1" dirty="0">
                <a:solidFill>
                  <a:srgbClr val="FFFFFF"/>
                </a:solidFill>
              </a:rPr>
              <a:t>, tasks y </a:t>
            </a:r>
            <a:r>
              <a:rPr sz="2100" b="1" dirty="0" err="1">
                <a:solidFill>
                  <a:srgbClr val="FFFFFF"/>
                </a:solidFill>
              </a:rPr>
              <a:t>diseño</a:t>
            </a:r>
            <a:r>
              <a:rPr sz="2100" b="1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FA63EBA-C497-3B16-9707-FF29C8413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686" y="1017814"/>
            <a:ext cx="31750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3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genda-title">
            <a:extLst>
              <a:ext uri="{FF2B5EF4-FFF2-40B4-BE49-F238E27FC236}">
                <a16:creationId xmlns:a16="http://schemas.microsoft.com/office/drawing/2014/main" id="{441117BD-8B20-4452-9F3E-24B1BD8050ED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6764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Agenda</a:t>
            </a:r>
          </a:p>
        </p:txBody>
      </p:sp>
      <p:sp>
        <p:nvSpPr>
          <p:cNvPr id="2" name="agenda-subtitle">
            <a:extLst>
              <a:ext uri="{FF2B5EF4-FFF2-40B4-BE49-F238E27FC236}">
                <a16:creationId xmlns:a16="http://schemas.microsoft.com/office/drawing/2014/main" id="{1148E168-AAD5-4E94-B2A2-59E3860DB0B7}"/>
              </a:ext>
            </a:extLst>
          </p:cNvPr>
          <p:cNvSpPr>
            <a:spLocks noGrp="1"/>
          </p:cNvSpPr>
          <p:nvPr/>
        </p:nvSpPr>
        <p:spPr>
          <a:xfrm>
            <a:off x="762000" y="1771650"/>
            <a:ext cx="108394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La charla está diseñada para que el equipo salga instalando y usando el catálogo el mismo día.</a:t>
            </a:r>
          </a:p>
        </p:txBody>
      </p:sp>
      <p:sp>
        <p:nvSpPr>
          <p:cNvPr id="3" name="agenda-a">
            <a:extLst>
              <a:ext uri="{FF2B5EF4-FFF2-40B4-BE49-F238E27FC236}">
                <a16:creationId xmlns:a16="http://schemas.microsoft.com/office/drawing/2014/main" id="{3503EF4A-6976-4EBB-B6BB-448510F26DDE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8267700" cy="152400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CE8C6-042A-4B1D-983D-707CA2DCF3A2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773430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1. Qué es el catálogo OLOI</a:t>
            </a:r>
          </a:p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Plugins, skills, agents, manifests y releases</a:t>
            </a:r>
          </a:p>
        </p:txBody>
      </p:sp>
      <p:sp>
        <p:nvSpPr>
          <p:cNvPr id="5" name="agenda-b">
            <a:extLst>
              <a:ext uri="{FF2B5EF4-FFF2-40B4-BE49-F238E27FC236}">
                <a16:creationId xmlns:a16="http://schemas.microsoft.com/office/drawing/2014/main" id="{5F081267-C5AC-4FED-8613-16B58B3C1975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8267700" cy="15240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CE6469-AE6E-48CE-AE13-A42DC70ADE7B}"/>
              </a:ext>
            </a:extLst>
          </p:cNvPr>
          <p:cNvSpPr>
            <a:spLocks noGrp="1"/>
          </p:cNvSpPr>
          <p:nvPr/>
        </p:nvSpPr>
        <p:spPr>
          <a:xfrm>
            <a:off x="1028700" y="4667250"/>
            <a:ext cx="773430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2. Instalación en macOS</a:t>
            </a:r>
          </a:p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Codex app, login corporativo y clonación del repo</a:t>
            </a:r>
          </a:p>
        </p:txBody>
      </p:sp>
      <p:sp>
        <p:nvSpPr>
          <p:cNvPr id="7" name="agenda-c">
            <a:extLst>
              <a:ext uri="{FF2B5EF4-FFF2-40B4-BE49-F238E27FC236}">
                <a16:creationId xmlns:a16="http://schemas.microsoft.com/office/drawing/2014/main" id="{317DE200-29B1-401C-870D-28453D43A660}"/>
              </a:ext>
            </a:extLst>
          </p:cNvPr>
          <p:cNvSpPr>
            <a:spLocks noGrp="1"/>
          </p:cNvSpPr>
          <p:nvPr/>
        </p:nvSpPr>
        <p:spPr>
          <a:xfrm>
            <a:off x="9258300" y="2686050"/>
            <a:ext cx="8267700" cy="152400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623386-E58A-4B2D-BECD-5361640D5E3F}"/>
              </a:ext>
            </a:extLst>
          </p:cNvPr>
          <p:cNvSpPr>
            <a:spLocks noGrp="1"/>
          </p:cNvSpPr>
          <p:nvPr/>
        </p:nvSpPr>
        <p:spPr>
          <a:xfrm>
            <a:off x="9525000" y="2952750"/>
            <a:ext cx="773430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3. Uso en el día a día</a:t>
            </a:r>
          </a:p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Cómo invocar Laravel, Flutter y Product Analyst</a:t>
            </a:r>
          </a:p>
        </p:txBody>
      </p:sp>
      <p:sp>
        <p:nvSpPr>
          <p:cNvPr id="9" name="agenda-d">
            <a:extLst>
              <a:ext uri="{FF2B5EF4-FFF2-40B4-BE49-F238E27FC236}">
                <a16:creationId xmlns:a16="http://schemas.microsoft.com/office/drawing/2014/main" id="{E34CCB48-B486-4480-AA0C-7D8BC9328B28}"/>
              </a:ext>
            </a:extLst>
          </p:cNvPr>
          <p:cNvSpPr>
            <a:spLocks noGrp="1"/>
          </p:cNvSpPr>
          <p:nvPr/>
        </p:nvSpPr>
        <p:spPr>
          <a:xfrm>
            <a:off x="9258300" y="4400550"/>
            <a:ext cx="8267700" cy="15240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DE63F-8860-44EE-AAAF-BA88CD875FC6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773430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 dirty="0">
                <a:solidFill>
                  <a:srgbClr val="0F172A"/>
                </a:solidFill>
              </a:rPr>
              <a:t>4. </a:t>
            </a:r>
            <a:r>
              <a:rPr sz="2250" b="1" dirty="0" err="1">
                <a:solidFill>
                  <a:srgbClr val="0F172A"/>
                </a:solidFill>
              </a:rPr>
              <a:t>Gobernanza</a:t>
            </a:r>
            <a:endParaRPr sz="2250" b="1" dirty="0">
              <a:solidFill>
                <a:srgbClr val="0F172A"/>
              </a:solidFill>
            </a:endParaRPr>
          </a:p>
          <a:p>
            <a:pPr>
              <a:lnSpc>
                <a:spcPct val="118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 dirty="0">
                <a:solidFill>
                  <a:srgbClr val="0F172A"/>
                </a:solidFill>
              </a:rPr>
              <a:t>Branching, </a:t>
            </a:r>
            <a:r>
              <a:rPr sz="2250" b="1" dirty="0" err="1">
                <a:solidFill>
                  <a:srgbClr val="0F172A"/>
                </a:solidFill>
              </a:rPr>
              <a:t>versionado</a:t>
            </a:r>
            <a:r>
              <a:rPr sz="2250" b="1" dirty="0">
                <a:solidFill>
                  <a:srgbClr val="0F172A"/>
                </a:solidFill>
              </a:rPr>
              <a:t>, candidate, stable y policy interna</a:t>
            </a:r>
          </a:p>
        </p:txBody>
      </p:sp>
    </p:spTree>
    <p:extLst>
      <p:ext uri="{BB962C8B-B14F-4D97-AF65-F5344CB8AC3E}">
        <p14:creationId xmlns:p14="http://schemas.microsoft.com/office/powerpoint/2010/main" val="5368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AA4CCCE-44A6-4935-8216-F2DBFB366860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69164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Arquitectura del catálogo OLOI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416055-F136-4886-8F8C-08C20168EC7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782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La clave es separar fuente de verdad por dominio y distribución empaquetada por plugins.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243ADF-D164-4DD7-A11C-198B35269DFB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486400" cy="70485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398D9B-67E9-4DF1-805C-E270F6E674AE}"/>
              </a:ext>
            </a:extLst>
          </p:cNvPr>
          <p:cNvSpPr>
            <a:spLocks noGrp="1"/>
          </p:cNvSpPr>
          <p:nvPr/>
        </p:nvSpPr>
        <p:spPr>
          <a:xfrm>
            <a:off x="952500" y="2819400"/>
            <a:ext cx="49530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Fuente de verdad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37820-ED4E-4CC2-977C-53B001D0ED4C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4953000" cy="1714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5000"/>
              </a:lnSpc>
              <a:buNone/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/laravel</a:t>
            </a:r>
          </a:p>
          <a:p>
            <a:pPr>
              <a:lnSpc>
                <a:spcPct val="125000"/>
              </a:lnSpc>
              <a:buNone/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/flutter</a:t>
            </a:r>
          </a:p>
          <a:p>
            <a:pPr>
              <a:lnSpc>
                <a:spcPct val="125000"/>
              </a:lnSpc>
              <a:buNone/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/product-analyst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96F43-E670-4415-BB27-7F3EEAF2DD31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49530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Aquí viven las skills, AGENTS.md, assets, openai.yaml y la evolución del conocimiento.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F026A3-CBCC-4884-AD52-178A308E79A5}"/>
              </a:ext>
            </a:extLst>
          </p:cNvPr>
          <p:cNvSpPr>
            <a:spLocks noGrp="1"/>
          </p:cNvSpPr>
          <p:nvPr/>
        </p:nvSpPr>
        <p:spPr>
          <a:xfrm>
            <a:off x="6400800" y="2552700"/>
            <a:ext cx="5486400" cy="70485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AAD7C-E44D-4A57-8939-A76A0D84E7C5}"/>
              </a:ext>
            </a:extLst>
          </p:cNvPr>
          <p:cNvSpPr>
            <a:spLocks noGrp="1"/>
          </p:cNvSpPr>
          <p:nvPr/>
        </p:nvSpPr>
        <p:spPr>
          <a:xfrm>
            <a:off x="6667500" y="2819400"/>
            <a:ext cx="49530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Distribución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86E254-BB82-49BE-8DAE-0FB69A49013C}"/>
              </a:ext>
            </a:extLst>
          </p:cNvPr>
          <p:cNvSpPr>
            <a:spLocks noGrp="1"/>
          </p:cNvSpPr>
          <p:nvPr/>
        </p:nvSpPr>
        <p:spPr>
          <a:xfrm>
            <a:off x="6667500" y="3467100"/>
            <a:ext cx="4953000" cy="2095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5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/plugins/oloi-laravel</a:t>
            </a:r>
          </a:p>
          <a:p>
            <a:pPr>
              <a:lnSpc>
                <a:spcPct val="125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/plugins/oloi-flutter</a:t>
            </a:r>
          </a:p>
          <a:p>
            <a:pPr>
              <a:lnSpc>
                <a:spcPct val="125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/plugins/oloi-product-analyst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25D7DF-1C9F-49BE-963E-15DF41AFA0D9}"/>
              </a:ext>
            </a:extLst>
          </p:cNvPr>
          <p:cNvSpPr>
            <a:spLocks noGrp="1"/>
          </p:cNvSpPr>
          <p:nvPr/>
        </p:nvSpPr>
        <p:spPr>
          <a:xfrm>
            <a:off x="6667500" y="5734050"/>
            <a:ext cx="49530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Estos paquetes son los que Codex instala y muestra en el marketplace interno.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60F66C-01B6-4FF3-B396-62D9ED0C7AC1}"/>
              </a:ext>
            </a:extLst>
          </p:cNvPr>
          <p:cNvSpPr>
            <a:spLocks noGrp="1"/>
          </p:cNvSpPr>
          <p:nvPr/>
        </p:nvSpPr>
        <p:spPr>
          <a:xfrm>
            <a:off x="12115800" y="2552700"/>
            <a:ext cx="5486400" cy="7048500"/>
          </a:xfrm>
          <a:prstGeom prst="roundRect">
            <a:avLst>
              <a:gd name="adj" fmla="val 1389"/>
            </a:avLst>
          </a:prstGeom>
          <a:solidFill>
            <a:srgbClr val="0B1220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55A6C-BFA6-4752-9248-CB7ABB42DFCD}"/>
              </a:ext>
            </a:extLst>
          </p:cNvPr>
          <p:cNvSpPr>
            <a:spLocks noGrp="1"/>
          </p:cNvSpPr>
          <p:nvPr/>
        </p:nvSpPr>
        <p:spPr>
          <a:xfrm>
            <a:off x="12382500" y="2819400"/>
            <a:ext cx="49530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0FFE0"/>
                </a:solidFill>
              </a:defRPr>
            </a:pPr>
            <a:r>
              <a:rPr sz="2550" b="1">
                <a:solidFill>
                  <a:srgbClr val="00FFE0"/>
                </a:solidFill>
              </a:rPr>
              <a:t>Gobernanza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DE48AF-6F99-4CB7-9590-082E6BBB3523}"/>
              </a:ext>
            </a:extLst>
          </p:cNvPr>
          <p:cNvSpPr>
            <a:spLocks noGrp="1"/>
          </p:cNvSpPr>
          <p:nvPr/>
        </p:nvSpPr>
        <p:spPr>
          <a:xfrm>
            <a:off x="12382500" y="3467100"/>
            <a:ext cx="4953000" cy="2095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/.agents/plugins/marketplace.json</a:t>
            </a:r>
          </a:p>
          <a:p>
            <a:pPr>
              <a:lnSpc>
                <a:spcPct val="12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/manifests</a:t>
            </a:r>
          </a:p>
          <a:p>
            <a:pPr>
              <a:lnSpc>
                <a:spcPct val="12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/changelogs</a:t>
            </a:r>
          </a:p>
          <a:p>
            <a:pPr>
              <a:lnSpc>
                <a:spcPct val="12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RELEASE_POLICY.md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209DA8-18FE-4874-BC06-D2D8F9B9DAC8}"/>
              </a:ext>
            </a:extLst>
          </p:cNvPr>
          <p:cNvSpPr>
            <a:spLocks noGrp="1"/>
          </p:cNvSpPr>
          <p:nvPr/>
        </p:nvSpPr>
        <p:spPr>
          <a:xfrm>
            <a:off x="12382500" y="5734050"/>
            <a:ext cx="49530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1950">
                <a:solidFill>
                  <a:srgbClr val="E2E8F0"/>
                </a:solidFill>
              </a:defRPr>
            </a:pPr>
            <a:r>
              <a:rPr sz="1950">
                <a:solidFill>
                  <a:srgbClr val="E2E8F0"/>
                </a:solidFill>
              </a:rPr>
              <a:t>Aquí se define qué se publica, en qué versión y por qué canal.</a:t>
            </a:r>
          </a:p>
        </p:txBody>
      </p:sp>
    </p:spTree>
    <p:extLst>
      <p:ext uri="{BB962C8B-B14F-4D97-AF65-F5344CB8AC3E}">
        <p14:creationId xmlns:p14="http://schemas.microsoft.com/office/powerpoint/2010/main" val="326450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99D76A-A780-40B3-B426-77B29B7433C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7249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Paso 1: preparación del admin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A61AE-DDF4-4D4B-BA02-4E7B4118778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73533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Antes de instalar nada en los laptops, el admin debe despejar permisos y acceso.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9947FE1-2027-475F-BF1D-743F4DC9DF18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8731091" cy="3429000"/>
          </a:xfrm>
          <a:prstGeom prst="roundRect">
            <a:avLst>
              <a:gd name="adj" fmla="val 2222"/>
            </a:avLst>
          </a:prstGeom>
          <a:solidFill>
            <a:srgbClr val="CCFBF1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9B120-AB16-49BB-A7D4-4B7734182005}"/>
              </a:ext>
            </a:extLst>
          </p:cNvPr>
          <p:cNvSpPr>
            <a:spLocks noGrp="1"/>
          </p:cNvSpPr>
          <p:nvPr/>
        </p:nvSpPr>
        <p:spPr>
          <a:xfrm>
            <a:off x="952500" y="2990850"/>
            <a:ext cx="8191500" cy="2895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4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 dirty="0">
                <a:solidFill>
                  <a:srgbClr val="0F172A"/>
                </a:solidFill>
              </a:rPr>
              <a:t>Checklist</a:t>
            </a:r>
          </a:p>
          <a:p>
            <a:endParaRPr sz="2175" b="1" dirty="0">
              <a:solidFill>
                <a:srgbClr val="0F172A"/>
              </a:solidFill>
            </a:endParaRPr>
          </a:p>
          <a:p>
            <a:pPr>
              <a:lnSpc>
                <a:spcPct val="124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 dirty="0">
                <a:solidFill>
                  <a:srgbClr val="0F172A"/>
                </a:solidFill>
              </a:rPr>
              <a:t>• </a:t>
            </a:r>
            <a:r>
              <a:rPr sz="2175" b="1" dirty="0" err="1">
                <a:solidFill>
                  <a:srgbClr val="0F172A"/>
                </a:solidFill>
              </a:rPr>
              <a:t>Confirmar</a:t>
            </a:r>
            <a:r>
              <a:rPr sz="2175" b="1" dirty="0">
                <a:solidFill>
                  <a:srgbClr val="0F172A"/>
                </a:solidFill>
              </a:rPr>
              <a:t> plan con </a:t>
            </a:r>
            <a:r>
              <a:rPr sz="2175" b="1" dirty="0" err="1">
                <a:solidFill>
                  <a:srgbClr val="0F172A"/>
                </a:solidFill>
              </a:rPr>
              <a:t>acceso</a:t>
            </a:r>
            <a:r>
              <a:rPr sz="2175" b="1" dirty="0">
                <a:solidFill>
                  <a:srgbClr val="0F172A"/>
                </a:solidFill>
              </a:rPr>
              <a:t> a Codex</a:t>
            </a:r>
          </a:p>
          <a:p>
            <a:pPr>
              <a:lnSpc>
                <a:spcPct val="124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 dirty="0">
                <a:solidFill>
                  <a:srgbClr val="0F172A"/>
                </a:solidFill>
              </a:rPr>
              <a:t>• </a:t>
            </a:r>
            <a:r>
              <a:rPr sz="2175" b="1" dirty="0" err="1">
                <a:solidFill>
                  <a:srgbClr val="0F172A"/>
                </a:solidFill>
              </a:rPr>
              <a:t>Habilitar</a:t>
            </a:r>
            <a:r>
              <a:rPr sz="2175" b="1" dirty="0">
                <a:solidFill>
                  <a:srgbClr val="0F172A"/>
                </a:solidFill>
              </a:rPr>
              <a:t> Codex local para </a:t>
            </a:r>
            <a:r>
              <a:rPr sz="2175" b="1" dirty="0" err="1">
                <a:solidFill>
                  <a:srgbClr val="0F172A"/>
                </a:solidFill>
              </a:rPr>
              <a:t>el</a:t>
            </a:r>
            <a:r>
              <a:rPr sz="2175" b="1" dirty="0">
                <a:solidFill>
                  <a:srgbClr val="0F172A"/>
                </a:solidFill>
              </a:rPr>
              <a:t> </a:t>
            </a:r>
            <a:r>
              <a:rPr sz="2175" b="1" dirty="0" err="1">
                <a:solidFill>
                  <a:srgbClr val="0F172A"/>
                </a:solidFill>
              </a:rPr>
              <a:t>rol</a:t>
            </a:r>
            <a:r>
              <a:rPr sz="2175" b="1" dirty="0">
                <a:solidFill>
                  <a:srgbClr val="0F172A"/>
                </a:solidFill>
              </a:rPr>
              <a:t> </a:t>
            </a:r>
            <a:r>
              <a:rPr sz="2175" b="1" dirty="0" err="1">
                <a:solidFill>
                  <a:srgbClr val="0F172A"/>
                </a:solidFill>
              </a:rPr>
              <a:t>adecuado</a:t>
            </a:r>
            <a:endParaRPr sz="2175" b="1" dirty="0">
              <a:solidFill>
                <a:srgbClr val="0F172A"/>
              </a:solidFill>
            </a:endParaRPr>
          </a:p>
          <a:p>
            <a:pPr>
              <a:lnSpc>
                <a:spcPct val="124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 dirty="0">
                <a:solidFill>
                  <a:srgbClr val="0F172A"/>
                </a:solidFill>
              </a:rPr>
              <a:t>• </a:t>
            </a:r>
            <a:r>
              <a:rPr sz="2175" b="1" dirty="0" err="1">
                <a:solidFill>
                  <a:srgbClr val="0F172A"/>
                </a:solidFill>
              </a:rPr>
              <a:t>Verificar</a:t>
            </a:r>
            <a:r>
              <a:rPr sz="2175" b="1" dirty="0">
                <a:solidFill>
                  <a:srgbClr val="0F172A"/>
                </a:solidFill>
              </a:rPr>
              <a:t>  apps/plugins</a:t>
            </a:r>
          </a:p>
          <a:p>
            <a:pPr>
              <a:lnSpc>
                <a:spcPct val="124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 dirty="0">
                <a:solidFill>
                  <a:srgbClr val="0F172A"/>
                </a:solidFill>
              </a:rPr>
              <a:t>• </a:t>
            </a:r>
            <a:r>
              <a:rPr sz="2175" b="1" dirty="0" err="1">
                <a:solidFill>
                  <a:srgbClr val="0F172A"/>
                </a:solidFill>
              </a:rPr>
              <a:t>Confirmar</a:t>
            </a:r>
            <a:r>
              <a:rPr sz="2175" b="1" dirty="0">
                <a:solidFill>
                  <a:srgbClr val="0F172A"/>
                </a:solidFill>
              </a:rPr>
              <a:t> </a:t>
            </a:r>
            <a:r>
              <a:rPr sz="2175" b="1" dirty="0" err="1">
                <a:solidFill>
                  <a:srgbClr val="0F172A"/>
                </a:solidFill>
              </a:rPr>
              <a:t>acceso</a:t>
            </a:r>
            <a:r>
              <a:rPr sz="2175" b="1" dirty="0">
                <a:solidFill>
                  <a:srgbClr val="0F172A"/>
                </a:solidFill>
              </a:rPr>
              <a:t> al repo privado </a:t>
            </a:r>
            <a:r>
              <a:rPr sz="2175" b="1" dirty="0" err="1">
                <a:solidFill>
                  <a:srgbClr val="0F172A"/>
                </a:solidFill>
              </a:rPr>
              <a:t>en</a:t>
            </a:r>
            <a:r>
              <a:rPr sz="2175" b="1" dirty="0">
                <a:solidFill>
                  <a:srgbClr val="0F172A"/>
                </a:solidFill>
              </a:rPr>
              <a:t> GitHub</a:t>
            </a:r>
          </a:p>
          <a:p>
            <a:pPr>
              <a:lnSpc>
                <a:spcPct val="124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 dirty="0">
                <a:solidFill>
                  <a:srgbClr val="0F172A"/>
                </a:solidFill>
              </a:rPr>
              <a:t>• </a:t>
            </a:r>
            <a:r>
              <a:rPr sz="2175" b="1" dirty="0" err="1">
                <a:solidFill>
                  <a:srgbClr val="0F172A"/>
                </a:solidFill>
              </a:rPr>
              <a:t>Comunicar</a:t>
            </a:r>
            <a:r>
              <a:rPr sz="2175" b="1" dirty="0">
                <a:solidFill>
                  <a:srgbClr val="0F172A"/>
                </a:solidFill>
              </a:rPr>
              <a:t> INTERNAL_USE_POLICY y </a:t>
            </a:r>
            <a:r>
              <a:rPr sz="2175" b="1" dirty="0" err="1">
                <a:solidFill>
                  <a:srgbClr val="0F172A"/>
                </a:solidFill>
              </a:rPr>
              <a:t>licencia</a:t>
            </a:r>
            <a:r>
              <a:rPr sz="2175" b="1" dirty="0">
                <a:solidFill>
                  <a:srgbClr val="0F172A"/>
                </a:solidFill>
              </a:rPr>
              <a:t> interna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8D2AFB-0FFC-4838-A686-481D13E8CBE3}"/>
              </a:ext>
            </a:extLst>
          </p:cNvPr>
          <p:cNvSpPr>
            <a:spLocks noGrp="1"/>
          </p:cNvSpPr>
          <p:nvPr/>
        </p:nvSpPr>
        <p:spPr>
          <a:xfrm>
            <a:off x="9702641" y="685800"/>
            <a:ext cx="7899559" cy="2381250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CC7B6-2958-4ECF-8B99-10F2FB8F3B27}"/>
              </a:ext>
            </a:extLst>
          </p:cNvPr>
          <p:cNvSpPr>
            <a:spLocks noGrp="1"/>
          </p:cNvSpPr>
          <p:nvPr/>
        </p:nvSpPr>
        <p:spPr>
          <a:xfrm>
            <a:off x="9963150" y="952500"/>
            <a:ext cx="7372350" cy="1847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Dato clave oficial</a:t>
            </a:r>
          </a:p>
          <a:p>
            <a:endParaRPr sz="2325" b="1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La app de Codex usa los mismos controles empresariales que Codex local y Codex cloud.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A38D18-E2D4-44E5-B7ED-D971F447167D}"/>
              </a:ext>
            </a:extLst>
          </p:cNvPr>
          <p:cNvSpPr>
            <a:spLocks noGrp="1"/>
          </p:cNvSpPr>
          <p:nvPr/>
        </p:nvSpPr>
        <p:spPr>
          <a:xfrm>
            <a:off x="9702641" y="3276600"/>
            <a:ext cx="7899559" cy="2381250"/>
          </a:xfrm>
          <a:prstGeom prst="roundRect">
            <a:avLst>
              <a:gd name="adj" fmla="val 3200"/>
            </a:avLst>
          </a:prstGeom>
          <a:solidFill>
            <a:srgbClr val="DBEAFE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50C97D-05D8-48DC-94FC-0EA654AD3212}"/>
              </a:ext>
            </a:extLst>
          </p:cNvPr>
          <p:cNvSpPr>
            <a:spLocks noGrp="1"/>
          </p:cNvSpPr>
          <p:nvPr/>
        </p:nvSpPr>
        <p:spPr>
          <a:xfrm>
            <a:off x="9963150" y="3543300"/>
            <a:ext cx="7372350" cy="1847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Riesgo que evitamos</a:t>
            </a:r>
          </a:p>
          <a:p>
            <a:endParaRPr sz="2175" b="1">
              <a:solidFill>
                <a:srgbClr val="0F172A"/>
              </a:solidFill>
            </a:endParaRPr>
          </a:p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Instalar la app sin permisos correctos genera falsa percepción de fallo técnico cuando en realidad es un problema de workspace.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EEC09E-C261-4750-8DA1-67E003945AA8}"/>
              </a:ext>
            </a:extLst>
          </p:cNvPr>
          <p:cNvSpPr>
            <a:spLocks noGrp="1"/>
          </p:cNvSpPr>
          <p:nvPr/>
        </p:nvSpPr>
        <p:spPr>
          <a:xfrm>
            <a:off x="9702641" y="5867400"/>
            <a:ext cx="7899559" cy="1714500"/>
          </a:xfrm>
          <a:prstGeom prst="roundRect">
            <a:avLst>
              <a:gd name="adj" fmla="val 4444"/>
            </a:avLst>
          </a:prstGeom>
          <a:solidFill>
            <a:srgbClr val="FEF2F2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E66BBF-5D4D-4681-BA36-9B323CB39DDE}"/>
              </a:ext>
            </a:extLst>
          </p:cNvPr>
          <p:cNvSpPr>
            <a:spLocks noGrp="1"/>
          </p:cNvSpPr>
          <p:nvPr/>
        </p:nvSpPr>
        <p:spPr>
          <a:xfrm>
            <a:off x="9963150" y="6134100"/>
            <a:ext cx="7372350" cy="1181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250" b="1">
                <a:solidFill>
                  <a:srgbClr val="991B1B"/>
                </a:solidFill>
              </a:defRPr>
            </a:pPr>
            <a:r>
              <a:rPr sz="2250" b="1">
                <a:solidFill>
                  <a:srgbClr val="991B1B"/>
                </a:solidFill>
              </a:rPr>
              <a:t>Regla de rollout</a:t>
            </a:r>
          </a:p>
          <a:p>
            <a:pPr>
              <a:lnSpc>
                <a:spcPct val="120000"/>
              </a:lnSpc>
              <a:buNone/>
              <a:defRPr sz="2250" b="1">
                <a:solidFill>
                  <a:srgbClr val="991B1B"/>
                </a:solidFill>
              </a:defRPr>
            </a:pPr>
            <a:r>
              <a:rPr sz="2250" b="1">
                <a:solidFill>
                  <a:srgbClr val="991B1B"/>
                </a:solidFill>
              </a:rPr>
              <a:t>Primero acceso. Luego instalación. Después demo.</a:t>
            </a:r>
          </a:p>
        </p:txBody>
      </p:sp>
    </p:spTree>
    <p:extLst>
      <p:ext uri="{BB962C8B-B14F-4D97-AF65-F5344CB8AC3E}">
        <p14:creationId xmlns:p14="http://schemas.microsoft.com/office/powerpoint/2010/main" val="133092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3F896A-A5C3-4558-A5BE-2754E4F9F36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69164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Paso 2: setup del developer en macOS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FF84865-82CE-4D2E-9A94-19735B4638B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926705" cy="792480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71944-4AB2-4CCE-806D-BC24B3F27357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73914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Instalación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9D7E3A-6EC7-4ABF-9DEF-C138EB57D5A5}"/>
              </a:ext>
            </a:extLst>
          </p:cNvPr>
          <p:cNvSpPr>
            <a:spLocks noGrp="1"/>
          </p:cNvSpPr>
          <p:nvPr/>
        </p:nvSpPr>
        <p:spPr>
          <a:xfrm>
            <a:off x="952500" y="2552700"/>
            <a:ext cx="73914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5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1. Descargar Codex app para macOS</a:t>
            </a:r>
          </a:p>
          <a:p>
            <a:pPr>
              <a:lnSpc>
                <a:spcPct val="125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2. Instalar en Applications</a:t>
            </a:r>
          </a:p>
          <a:p>
            <a:pPr>
              <a:lnSpc>
                <a:spcPct val="125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3. Abrir Codex</a:t>
            </a:r>
          </a:p>
          <a:p>
            <a:pPr>
              <a:lnSpc>
                <a:spcPct val="125000"/>
              </a:lnSpc>
              <a:buNone/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4. Iniciar sesión con cuenta corporativa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80496-3AB6-4ECA-B15B-61C2B52741C8}"/>
              </a:ext>
            </a:extLst>
          </p:cNvPr>
          <p:cNvSpPr>
            <a:spLocks noGrp="1"/>
          </p:cNvSpPr>
          <p:nvPr/>
        </p:nvSpPr>
        <p:spPr>
          <a:xfrm>
            <a:off x="952500" y="4152900"/>
            <a:ext cx="73914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Validación: la app debe permitir abrir proyectos locales y operar tareas locales.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EBE006-0C14-4E82-AD27-5D1ECB3AFF37}"/>
              </a:ext>
            </a:extLst>
          </p:cNvPr>
          <p:cNvSpPr>
            <a:spLocks noGrp="1"/>
          </p:cNvSpPr>
          <p:nvPr/>
        </p:nvSpPr>
        <p:spPr>
          <a:xfrm>
            <a:off x="8841105" y="1676400"/>
            <a:ext cx="8761095" cy="7924800"/>
          </a:xfrm>
          <a:prstGeom prst="roundRect">
            <a:avLst>
              <a:gd name="adj" fmla="val 962"/>
            </a:avLst>
          </a:prstGeom>
          <a:solidFill>
            <a:srgbClr val="0B1220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F25B02-6E82-4205-80A3-0FD158277B4C}"/>
              </a:ext>
            </a:extLst>
          </p:cNvPr>
          <p:cNvSpPr>
            <a:spLocks noGrp="1"/>
          </p:cNvSpPr>
          <p:nvPr/>
        </p:nvSpPr>
        <p:spPr>
          <a:xfrm>
            <a:off x="9105900" y="1943100"/>
            <a:ext cx="82296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0FFE0"/>
                </a:solidFill>
              </a:defRPr>
            </a:pPr>
            <a:r>
              <a:rPr sz="2550" b="1">
                <a:solidFill>
                  <a:srgbClr val="00FFE0"/>
                </a:solidFill>
              </a:rPr>
              <a:t>Preparar el repo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C8B74-B794-4393-88E9-6A89DFAD82B6}"/>
              </a:ext>
            </a:extLst>
          </p:cNvPr>
          <p:cNvSpPr>
            <a:spLocks noGrp="1"/>
          </p:cNvSpPr>
          <p:nvPr/>
        </p:nvSpPr>
        <p:spPr>
          <a:xfrm>
            <a:off x="9105900" y="2552700"/>
            <a:ext cx="8229600" cy="1619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30000"/>
              </a:lnSpc>
              <a:buNone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git clone git@github.com:oloidev/oloi-ai-estandars.git</a:t>
            </a:r>
          </a:p>
          <a:p>
            <a:pPr>
              <a:lnSpc>
                <a:spcPct val="130000"/>
              </a:lnSpc>
              <a:buNone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cd oloi-ai-estandars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60BC0B-E260-48F8-A658-97538B5AB234}"/>
              </a:ext>
            </a:extLst>
          </p:cNvPr>
          <p:cNvSpPr>
            <a:spLocks noGrp="1"/>
          </p:cNvSpPr>
          <p:nvPr/>
        </p:nvSpPr>
        <p:spPr>
          <a:xfrm>
            <a:off x="9105900" y="4343400"/>
            <a:ext cx="8229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1875">
                <a:solidFill>
                  <a:srgbClr val="E2E8F0"/>
                </a:solidFill>
              </a:defRPr>
            </a:pPr>
            <a:r>
              <a:rPr sz="1875">
                <a:solidFill>
                  <a:srgbClr val="E2E8F0"/>
                </a:solidFill>
              </a:rPr>
              <a:t>Abrir la carpeta en Codex y esperar detección del marketplace.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FC6433-9D71-4AF9-A8EE-07BA4BFC6200}"/>
              </a:ext>
            </a:extLst>
          </p:cNvPr>
          <p:cNvSpPr>
            <a:spLocks noGrp="1"/>
          </p:cNvSpPr>
          <p:nvPr/>
        </p:nvSpPr>
        <p:spPr>
          <a:xfrm>
            <a:off x="9107805" y="4800600"/>
            <a:ext cx="8227695" cy="13335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32AE0-DCDC-4524-969A-4123876C3324}"/>
              </a:ext>
            </a:extLst>
          </p:cNvPr>
          <p:cNvSpPr>
            <a:spLocks noGrp="1"/>
          </p:cNvSpPr>
          <p:nvPr/>
        </p:nvSpPr>
        <p:spPr>
          <a:xfrm>
            <a:off x="9315450" y="5010150"/>
            <a:ext cx="7810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2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Expected UI</a:t>
            </a:r>
          </a:p>
          <a:p>
            <a:pPr>
              <a:lnSpc>
                <a:spcPct val="122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OLOI Enterprise Plugins</a:t>
            </a:r>
          </a:p>
          <a:p>
            <a:pPr>
              <a:lnSpc>
                <a:spcPct val="122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OLOI Laravel | OLOI Flutter | OLOI Product Analyst</a:t>
            </a:r>
          </a:p>
        </p:txBody>
      </p:sp>
    </p:spTree>
    <p:extLst>
      <p:ext uri="{BB962C8B-B14F-4D97-AF65-F5344CB8AC3E}">
        <p14:creationId xmlns:p14="http://schemas.microsoft.com/office/powerpoint/2010/main" val="189894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87C7202-DCAE-4A58-B0D8-C48FB95B17E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69164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Paso 3: uso real por dominio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EE4677-28CD-4D14-B370-3116F9B9C9C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13919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La adopción sale bien cuando la gente ve un caso real por stack, no solo un manifiesto técnico.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938110A-6EDE-4D60-9FAD-CAE0E5B570B3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499100" cy="7029450"/>
          </a:xfrm>
          <a:prstGeom prst="roundRect">
            <a:avLst>
              <a:gd name="adj" fmla="val 1386"/>
            </a:avLst>
          </a:prstGeom>
          <a:solidFill>
            <a:srgbClr val="FFF7ED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CFABF-C7BB-4166-8EBD-448D334A76A0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5048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2410C"/>
                </a:solidFill>
              </a:defRPr>
            </a:pPr>
            <a:r>
              <a:rPr sz="2550" b="1">
                <a:solidFill>
                  <a:srgbClr val="C2410C"/>
                </a:solidFill>
              </a:rPr>
              <a:t>Laravel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2F25A-64A1-4596-8ABE-59B20981CB64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50482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Prompt demo</a:t>
            </a:r>
          </a:p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Use OLOI Laravel to create a production-safe endpoint for updating the authenticated user profile.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D4E93-1AB4-46B5-892B-4951379E9E98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5048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Qué activa: endpoints, testing, policies, arquitectura y observabilidad.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CAA2A89-6EA4-48A8-9B0B-AF06B12EE8F0}"/>
              </a:ext>
            </a:extLst>
          </p:cNvPr>
          <p:cNvSpPr>
            <a:spLocks noGrp="1"/>
          </p:cNvSpPr>
          <p:nvPr/>
        </p:nvSpPr>
        <p:spPr>
          <a:xfrm>
            <a:off x="6394450" y="2571750"/>
            <a:ext cx="5499100" cy="7029450"/>
          </a:xfrm>
          <a:prstGeom prst="roundRect">
            <a:avLst>
              <a:gd name="adj" fmla="val 1386"/>
            </a:avLst>
          </a:prstGeom>
          <a:solidFill>
            <a:srgbClr val="EFF6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75803-224E-4AB8-AE30-E73246BA5252}"/>
              </a:ext>
            </a:extLst>
          </p:cNvPr>
          <p:cNvSpPr>
            <a:spLocks noGrp="1"/>
          </p:cNvSpPr>
          <p:nvPr/>
        </p:nvSpPr>
        <p:spPr>
          <a:xfrm>
            <a:off x="6629400" y="2800350"/>
            <a:ext cx="5048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Flutter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1FB0DD-D0D3-4272-901B-BCC689CB3BDF}"/>
              </a:ext>
            </a:extLst>
          </p:cNvPr>
          <p:cNvSpPr>
            <a:spLocks noGrp="1"/>
          </p:cNvSpPr>
          <p:nvPr/>
        </p:nvSpPr>
        <p:spPr>
          <a:xfrm>
            <a:off x="6629400" y="3333750"/>
            <a:ext cx="50482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Prompt demo</a:t>
            </a:r>
          </a:p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Use OLOI Flutter to plan and implement a profile edit feature with Riverpod, Dio and tests.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B0763-C800-44B0-BEAB-11E52D3180D6}"/>
              </a:ext>
            </a:extLst>
          </p:cNvPr>
          <p:cNvSpPr>
            <a:spLocks noGrp="1"/>
          </p:cNvSpPr>
          <p:nvPr/>
        </p:nvSpPr>
        <p:spPr>
          <a:xfrm>
            <a:off x="6629400" y="4800600"/>
            <a:ext cx="5048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Qué activa: arquitectura por feature, estado, REST, testing, performance y seguridad.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315BC13-13DE-4A01-892E-4FF04517A3B1}"/>
              </a:ext>
            </a:extLst>
          </p:cNvPr>
          <p:cNvSpPr>
            <a:spLocks noGrp="1"/>
          </p:cNvSpPr>
          <p:nvPr/>
        </p:nvSpPr>
        <p:spPr>
          <a:xfrm>
            <a:off x="12103100" y="2571750"/>
            <a:ext cx="5499100" cy="7029450"/>
          </a:xfrm>
          <a:prstGeom prst="roundRect">
            <a:avLst>
              <a:gd name="adj" fmla="val 1386"/>
            </a:avLst>
          </a:prstGeom>
          <a:solidFill>
            <a:srgbClr val="F5F3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E3247-7927-4D25-A663-C5022DB71CC2}"/>
              </a:ext>
            </a:extLst>
          </p:cNvPr>
          <p:cNvSpPr>
            <a:spLocks noGrp="1"/>
          </p:cNvSpPr>
          <p:nvPr/>
        </p:nvSpPr>
        <p:spPr>
          <a:xfrm>
            <a:off x="12325350" y="2800350"/>
            <a:ext cx="5048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7C3AED"/>
                </a:solidFill>
              </a:defRPr>
            </a:pPr>
            <a:r>
              <a:rPr sz="2550" b="1">
                <a:solidFill>
                  <a:srgbClr val="7C3AED"/>
                </a:solidFill>
              </a:rPr>
              <a:t>Product Analyst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84AB1F-AFC2-4AD4-BC9A-2A98D55EB74E}"/>
              </a:ext>
            </a:extLst>
          </p:cNvPr>
          <p:cNvSpPr>
            <a:spLocks noGrp="1"/>
          </p:cNvSpPr>
          <p:nvPr/>
        </p:nvSpPr>
        <p:spPr>
          <a:xfrm>
            <a:off x="12325350" y="3333750"/>
            <a:ext cx="50482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Prompt demo</a:t>
            </a:r>
          </a:p>
          <a:p>
            <a:pPr>
              <a:lnSpc>
                <a:spcPct val="120000"/>
              </a:lnSpc>
              <a:buNone/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Use OLOI Product Analyst to convert this requirement into a user story and implementation tasks.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0B9CA5-C2BC-4C66-8F4B-D45E2E60745F}"/>
              </a:ext>
            </a:extLst>
          </p:cNvPr>
          <p:cNvSpPr>
            <a:spLocks noGrp="1"/>
          </p:cNvSpPr>
          <p:nvPr/>
        </p:nvSpPr>
        <p:spPr>
          <a:xfrm>
            <a:off x="12325350" y="4800600"/>
            <a:ext cx="5048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Qué activa: historia de usuario, task breakdown y diseño para Figma.</a:t>
            </a:r>
          </a:p>
        </p:txBody>
      </p:sp>
    </p:spTree>
    <p:extLst>
      <p:ext uri="{BB962C8B-B14F-4D97-AF65-F5344CB8AC3E}">
        <p14:creationId xmlns:p14="http://schemas.microsoft.com/office/powerpoint/2010/main" val="124402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AA07F3-3D87-45B8-8759-87314665D42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69164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Flujo de adopción interna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54E700-3970-4958-94D2-5664FE195E8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24612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B5A16-AAD5-4B56-9627-DBD873DA8212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857500" cy="2857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1</a:t>
            </a:r>
          </a:p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Admin habilita acceso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8E04A4-5FE0-4165-8B90-9E9C3C065C6B}"/>
              </a:ext>
            </a:extLst>
          </p:cNvPr>
          <p:cNvSpPr>
            <a:spLocks noGrp="1"/>
          </p:cNvSpPr>
          <p:nvPr/>
        </p:nvSpPr>
        <p:spPr>
          <a:xfrm>
            <a:off x="4103370" y="1714500"/>
            <a:ext cx="324612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55769D-05D4-4D2F-8A80-2BDD881082FE}"/>
              </a:ext>
            </a:extLst>
          </p:cNvPr>
          <p:cNvSpPr>
            <a:spLocks noGrp="1"/>
          </p:cNvSpPr>
          <p:nvPr/>
        </p:nvSpPr>
        <p:spPr>
          <a:xfrm>
            <a:off x="4286250" y="1905000"/>
            <a:ext cx="2857500" cy="2857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</a:t>
            </a:r>
          </a:p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Developer instala Codex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98B987-AF18-4642-A7F1-A1821295F823}"/>
              </a:ext>
            </a:extLst>
          </p:cNvPr>
          <p:cNvSpPr>
            <a:spLocks noGrp="1"/>
          </p:cNvSpPr>
          <p:nvPr/>
        </p:nvSpPr>
        <p:spPr>
          <a:xfrm>
            <a:off x="7520940" y="1714500"/>
            <a:ext cx="324612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3F2E93-24B0-4030-9569-6BC59413409D}"/>
              </a:ext>
            </a:extLst>
          </p:cNvPr>
          <p:cNvSpPr>
            <a:spLocks noGrp="1"/>
          </p:cNvSpPr>
          <p:nvPr/>
        </p:nvSpPr>
        <p:spPr>
          <a:xfrm>
            <a:off x="7715250" y="1905000"/>
            <a:ext cx="2857500" cy="2857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</a:t>
            </a:r>
          </a:p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Clona y abre el repo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E927B8-C7EA-4E85-8068-DB3A4596C92E}"/>
              </a:ext>
            </a:extLst>
          </p:cNvPr>
          <p:cNvSpPr>
            <a:spLocks noGrp="1"/>
          </p:cNvSpPr>
          <p:nvPr/>
        </p:nvSpPr>
        <p:spPr>
          <a:xfrm>
            <a:off x="10938510" y="1714500"/>
            <a:ext cx="324612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886048-A8D4-4771-ADA4-2767673C01FA}"/>
              </a:ext>
            </a:extLst>
          </p:cNvPr>
          <p:cNvSpPr>
            <a:spLocks noGrp="1"/>
          </p:cNvSpPr>
          <p:nvPr/>
        </p:nvSpPr>
        <p:spPr>
          <a:xfrm>
            <a:off x="11125200" y="1905000"/>
            <a:ext cx="2857500" cy="2857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4</a:t>
            </a:r>
          </a:p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Instala plugin por dominio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88D50F-4968-481D-A361-F53379E243C7}"/>
              </a:ext>
            </a:extLst>
          </p:cNvPr>
          <p:cNvSpPr>
            <a:spLocks noGrp="1"/>
          </p:cNvSpPr>
          <p:nvPr/>
        </p:nvSpPr>
        <p:spPr>
          <a:xfrm>
            <a:off x="14356080" y="1714500"/>
            <a:ext cx="324612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936395-E90E-4095-8DCD-8087C7835C4A}"/>
              </a:ext>
            </a:extLst>
          </p:cNvPr>
          <p:cNvSpPr>
            <a:spLocks noGrp="1"/>
          </p:cNvSpPr>
          <p:nvPr/>
        </p:nvSpPr>
        <p:spPr>
          <a:xfrm>
            <a:off x="14554200" y="1905000"/>
            <a:ext cx="2857500" cy="2857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5</a:t>
            </a:r>
          </a:p>
          <a:p>
            <a:pPr algn="ctr">
              <a:lnSpc>
                <a:spcPct val="120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Usa y mejora el catálogo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AF26C5-8C01-48C6-8206-EBF9E3A4E867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6916400" cy="209550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33191-572F-4EED-A2EC-0B33A8292C60}"/>
              </a:ext>
            </a:extLst>
          </p:cNvPr>
          <p:cNvSpPr>
            <a:spLocks noGrp="1"/>
          </p:cNvSpPr>
          <p:nvPr/>
        </p:nvSpPr>
        <p:spPr>
          <a:xfrm>
            <a:off x="971550" y="5505450"/>
            <a:ext cx="16344900" cy="1524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lnSpc>
                <a:spcPct val="125000"/>
              </a:lnSpc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Cierre del ciclo</a:t>
            </a:r>
          </a:p>
          <a:p>
            <a:pPr algn="ctr">
              <a:lnSpc>
                <a:spcPct val="125000"/>
              </a:lnSpc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main -&gt; candidate -&gt; stable -&gt; tag por dominio</a:t>
            </a:r>
          </a:p>
          <a:p>
            <a:pPr algn="ctr">
              <a:lnSpc>
                <a:spcPct val="125000"/>
              </a:lnSpc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Eso convierte prompts aislados en expertise versionada y distribuible.</a:t>
            </a:r>
          </a:p>
        </p:txBody>
      </p:sp>
    </p:spTree>
    <p:extLst>
      <p:ext uri="{BB962C8B-B14F-4D97-AF65-F5344CB8AC3E}">
        <p14:creationId xmlns:p14="http://schemas.microsoft.com/office/powerpoint/2010/main" val="173871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98C678-A816-4314-AD1B-2B39EC04A5A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3248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Gobernanza y operación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48634B6-12EE-457C-8BF7-6AA81F18B2F5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324850" cy="2476500"/>
          </a:xfrm>
          <a:prstGeom prst="roundRect">
            <a:avLst>
              <a:gd name="adj" fmla="val 3077"/>
            </a:avLst>
          </a:prstGeom>
          <a:solidFill>
            <a:srgbClr val="DBEAFE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82E22-3C84-4553-B54A-96791F706D9F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7791450" cy="1943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5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Canales</a:t>
            </a:r>
          </a:p>
          <a:p>
            <a:pPr>
              <a:lnSpc>
                <a:spcPct val="125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main = integración</a:t>
            </a:r>
          </a:p>
          <a:p>
            <a:pPr>
              <a:lnSpc>
                <a:spcPct val="125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candidate = pre-release</a:t>
            </a:r>
          </a:p>
          <a:p>
            <a:pPr>
              <a:lnSpc>
                <a:spcPct val="125000"/>
              </a:lnSpc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stable = producción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2C6E5F-B7D0-44A7-A686-9CA8141CABDD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8324850" cy="2095500"/>
          </a:xfrm>
          <a:prstGeom prst="roundRect">
            <a:avLst>
              <a:gd name="adj" fmla="val 3636"/>
            </a:avLst>
          </a:prstGeom>
          <a:solidFill>
            <a:srgbClr val="CCFBF1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BD113-82EB-4599-B8E9-3A47C1F2A090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7791450" cy="1562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5000"/>
              </a:lnSpc>
              <a:buNone/>
              <a:defRPr sz="2475" b="1">
                <a:solidFill>
                  <a:srgbClr val="0F172A"/>
                </a:solidFill>
              </a:defRPr>
            </a:pPr>
            <a:r>
              <a:rPr sz="2475" b="1">
                <a:solidFill>
                  <a:srgbClr val="0F172A"/>
                </a:solidFill>
              </a:rPr>
              <a:t>Versionado</a:t>
            </a:r>
          </a:p>
          <a:p>
            <a:pPr>
              <a:lnSpc>
                <a:spcPct val="125000"/>
              </a:lnSpc>
              <a:buNone/>
              <a:defRPr sz="2475" b="1">
                <a:solidFill>
                  <a:srgbClr val="0F172A"/>
                </a:solidFill>
              </a:defRPr>
            </a:pPr>
            <a:r>
              <a:rPr sz="2475" b="1">
                <a:solidFill>
                  <a:srgbClr val="0F172A"/>
                </a:solidFill>
              </a:rPr>
              <a:t>laravel-vX.Y.Z</a:t>
            </a:r>
          </a:p>
          <a:p>
            <a:pPr>
              <a:lnSpc>
                <a:spcPct val="125000"/>
              </a:lnSpc>
              <a:buNone/>
              <a:defRPr sz="2475" b="1">
                <a:solidFill>
                  <a:srgbClr val="0F172A"/>
                </a:solidFill>
              </a:defRPr>
            </a:pPr>
            <a:r>
              <a:rPr sz="2475" b="1">
                <a:solidFill>
                  <a:srgbClr val="0F172A"/>
                </a:solidFill>
              </a:rPr>
              <a:t>flutter-vX.Y.Z</a:t>
            </a:r>
          </a:p>
          <a:p>
            <a:pPr>
              <a:lnSpc>
                <a:spcPct val="125000"/>
              </a:lnSpc>
              <a:buNone/>
              <a:defRPr sz="2475" b="1">
                <a:solidFill>
                  <a:srgbClr val="0F172A"/>
                </a:solidFill>
              </a:defRPr>
            </a:pPr>
            <a:r>
              <a:rPr sz="2475" b="1">
                <a:solidFill>
                  <a:srgbClr val="0F172A"/>
                </a:solidFill>
              </a:rPr>
              <a:t>product-analyst-vX.Y.Z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0CF936-26DC-4C21-A7C8-A070A98B7491}"/>
              </a:ext>
            </a:extLst>
          </p:cNvPr>
          <p:cNvSpPr>
            <a:spLocks noGrp="1"/>
          </p:cNvSpPr>
          <p:nvPr/>
        </p:nvSpPr>
        <p:spPr>
          <a:xfrm>
            <a:off x="9277350" y="685800"/>
            <a:ext cx="8324850" cy="2476500"/>
          </a:xfrm>
          <a:prstGeom prst="roundRect">
            <a:avLst>
              <a:gd name="adj" fmla="val 3077"/>
            </a:avLst>
          </a:prstGeom>
          <a:solidFill>
            <a:srgbClr val="FEF2F2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164BB8-71D1-4AB5-817D-A380EC8B3E3B}"/>
              </a:ext>
            </a:extLst>
          </p:cNvPr>
          <p:cNvSpPr>
            <a:spLocks noGrp="1"/>
          </p:cNvSpPr>
          <p:nvPr/>
        </p:nvSpPr>
        <p:spPr>
          <a:xfrm>
            <a:off x="9544050" y="952500"/>
            <a:ext cx="7791450" cy="1943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5000"/>
              </a:lnSpc>
              <a:buNone/>
              <a:defRPr sz="2400" b="1">
                <a:solidFill>
                  <a:srgbClr val="7F1D1D"/>
                </a:solidFill>
              </a:defRPr>
            </a:pPr>
            <a:r>
              <a:rPr sz="2400" b="1">
                <a:solidFill>
                  <a:srgbClr val="7F1D1D"/>
                </a:solidFill>
              </a:rPr>
              <a:t>Política</a:t>
            </a:r>
          </a:p>
          <a:p>
            <a:pPr>
              <a:lnSpc>
                <a:spcPct val="125000"/>
              </a:lnSpc>
              <a:buNone/>
              <a:defRPr sz="2400" b="1">
                <a:solidFill>
                  <a:srgbClr val="7F1D1D"/>
                </a:solidFill>
              </a:defRPr>
            </a:pPr>
            <a:r>
              <a:rPr sz="2400" b="1">
                <a:solidFill>
                  <a:srgbClr val="7F1D1D"/>
                </a:solidFill>
              </a:rPr>
              <a:t>UNLICENSED + INTERNAL_USE_POLICY.md</a:t>
            </a:r>
          </a:p>
          <a:p>
            <a:pPr>
              <a:lnSpc>
                <a:spcPct val="125000"/>
              </a:lnSpc>
              <a:buNone/>
              <a:defRPr sz="2400" b="1">
                <a:solidFill>
                  <a:srgbClr val="7F1D1D"/>
                </a:solidFill>
              </a:defRPr>
            </a:pPr>
            <a:r>
              <a:rPr sz="2400" b="1">
                <a:solidFill>
                  <a:srgbClr val="7F1D1D"/>
                </a:solidFill>
              </a:rPr>
              <a:t>Uso interno únicamente</a:t>
            </a:r>
          </a:p>
          <a:p>
            <a:pPr>
              <a:lnSpc>
                <a:spcPct val="125000"/>
              </a:lnSpc>
              <a:buNone/>
              <a:defRPr sz="2400" b="1">
                <a:solidFill>
                  <a:srgbClr val="7F1D1D"/>
                </a:solidFill>
              </a:defRPr>
            </a:pPr>
            <a:r>
              <a:rPr sz="2400" b="1">
                <a:solidFill>
                  <a:srgbClr val="7F1D1D"/>
                </a:solidFill>
              </a:rPr>
              <a:t>No redistribución fuera de la empresa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CBE931-0873-49A0-AC50-7B18E9394CFE}"/>
              </a:ext>
            </a:extLst>
          </p:cNvPr>
          <p:cNvSpPr>
            <a:spLocks noGrp="1"/>
          </p:cNvSpPr>
          <p:nvPr/>
        </p:nvSpPr>
        <p:spPr>
          <a:xfrm>
            <a:off x="9277350" y="3352800"/>
            <a:ext cx="8324850" cy="2476500"/>
          </a:xfrm>
          <a:prstGeom prst="roundRect">
            <a:avLst>
              <a:gd name="adj" fmla="val 3077"/>
            </a:avLst>
          </a:prstGeom>
          <a:solidFill>
            <a:srgbClr val="0B1220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E994C-4BDB-482C-AD2E-7549E3D830B5}"/>
              </a:ext>
            </a:extLst>
          </p:cNvPr>
          <p:cNvSpPr>
            <a:spLocks noGrp="1"/>
          </p:cNvSpPr>
          <p:nvPr/>
        </p:nvSpPr>
        <p:spPr>
          <a:xfrm>
            <a:off x="9544050" y="3619500"/>
            <a:ext cx="7791450" cy="1943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2000"/>
              </a:lnSpc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Mensaje para el equipo</a:t>
            </a:r>
          </a:p>
          <a:p>
            <a:pPr>
              <a:lnSpc>
                <a:spcPct val="122000"/>
              </a:lnSpc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No estamos distribuyendo prompts. Estamos distribuyendo conocimiento operativo, gobernado y versionado.</a:t>
            </a:r>
          </a:p>
        </p:txBody>
      </p:sp>
    </p:spTree>
    <p:extLst>
      <p:ext uri="{BB962C8B-B14F-4D97-AF65-F5344CB8AC3E}">
        <p14:creationId xmlns:p14="http://schemas.microsoft.com/office/powerpoint/2010/main" val="57065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7EF4BD-2207-4CFB-83A3-8D7A06A5FE4E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64592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100" b="1">
                <a:solidFill>
                  <a:srgbClr val="FFFFFF"/>
                </a:solidFill>
              </a:defRPr>
            </a:pPr>
            <a:r>
              <a:rPr sz="5100" b="1" dirty="0">
                <a:solidFill>
                  <a:srgbClr val="FFFFFF"/>
                </a:solidFill>
              </a:rPr>
              <a:t>Lo </a:t>
            </a:r>
            <a:r>
              <a:rPr sz="5100" b="1" dirty="0" err="1">
                <a:solidFill>
                  <a:srgbClr val="FFFFFF"/>
                </a:solidFill>
              </a:rPr>
              <a:t>que</a:t>
            </a:r>
            <a:r>
              <a:rPr sz="5100" b="1" dirty="0">
                <a:solidFill>
                  <a:srgbClr val="FFFFFF"/>
                </a:solidFill>
              </a:rPr>
              <a:t> cambia </a:t>
            </a:r>
            <a:r>
              <a:rPr sz="5100" b="1" dirty="0" err="1">
                <a:solidFill>
                  <a:srgbClr val="FFFFFF"/>
                </a:solidFill>
              </a:rPr>
              <a:t>desde</a:t>
            </a:r>
            <a:r>
              <a:rPr sz="5100" b="1" dirty="0">
                <a:solidFill>
                  <a:srgbClr val="FFFFFF"/>
                </a:solidFill>
              </a:rPr>
              <a:t> </a:t>
            </a:r>
            <a:r>
              <a:rPr sz="5100" b="1" dirty="0" err="1">
                <a:solidFill>
                  <a:srgbClr val="FFFFFF"/>
                </a:solidFill>
              </a:rPr>
              <a:t>mañana</a:t>
            </a:r>
            <a:endParaRPr sz="5100" b="1"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F7CDC5-CE44-4A59-B530-147A2FCF0458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18872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4000"/>
              </a:lnSpc>
              <a:buNone/>
              <a:defRPr sz="2700">
                <a:solidFill>
                  <a:srgbClr val="E2E8F0"/>
                </a:solidFill>
              </a:defRPr>
            </a:pPr>
            <a:r>
              <a:rPr sz="2700" dirty="0">
                <a:solidFill>
                  <a:srgbClr val="E2E8F0"/>
                </a:solidFill>
              </a:rPr>
              <a:t>El </a:t>
            </a:r>
            <a:r>
              <a:rPr sz="2700" dirty="0" err="1">
                <a:solidFill>
                  <a:srgbClr val="E2E8F0"/>
                </a:solidFill>
              </a:rPr>
              <a:t>equipo</a:t>
            </a:r>
            <a:r>
              <a:rPr sz="2700" dirty="0">
                <a:solidFill>
                  <a:srgbClr val="E2E8F0"/>
                </a:solidFill>
              </a:rPr>
              <a:t> </a:t>
            </a:r>
            <a:r>
              <a:rPr sz="2700" dirty="0" err="1">
                <a:solidFill>
                  <a:srgbClr val="E2E8F0"/>
                </a:solidFill>
              </a:rPr>
              <a:t>deja</a:t>
            </a:r>
            <a:r>
              <a:rPr sz="2700" dirty="0">
                <a:solidFill>
                  <a:srgbClr val="E2E8F0"/>
                </a:solidFill>
              </a:rPr>
              <a:t> de </a:t>
            </a:r>
            <a:r>
              <a:rPr sz="2700" dirty="0" err="1">
                <a:solidFill>
                  <a:srgbClr val="E2E8F0"/>
                </a:solidFill>
              </a:rPr>
              <a:t>depender</a:t>
            </a:r>
            <a:r>
              <a:rPr sz="2700" dirty="0">
                <a:solidFill>
                  <a:srgbClr val="E2E8F0"/>
                </a:solidFill>
              </a:rPr>
              <a:t> de memoria tribal y </a:t>
            </a:r>
            <a:r>
              <a:rPr sz="2700" dirty="0" err="1">
                <a:solidFill>
                  <a:srgbClr val="E2E8F0"/>
                </a:solidFill>
              </a:rPr>
              <a:t>empieza</a:t>
            </a:r>
            <a:r>
              <a:rPr sz="2700" dirty="0">
                <a:solidFill>
                  <a:srgbClr val="E2E8F0"/>
                </a:solidFill>
              </a:rPr>
              <a:t> a </a:t>
            </a:r>
            <a:r>
              <a:rPr sz="2700" dirty="0" err="1">
                <a:solidFill>
                  <a:srgbClr val="E2E8F0"/>
                </a:solidFill>
              </a:rPr>
              <a:t>operar</a:t>
            </a:r>
            <a:r>
              <a:rPr sz="2700" dirty="0">
                <a:solidFill>
                  <a:srgbClr val="E2E8F0"/>
                </a:solidFill>
              </a:rPr>
              <a:t> con plugins privados de Codex, </a:t>
            </a:r>
            <a:r>
              <a:rPr sz="2700" dirty="0" err="1">
                <a:solidFill>
                  <a:srgbClr val="E2E8F0"/>
                </a:solidFill>
              </a:rPr>
              <a:t>por</a:t>
            </a:r>
            <a:r>
              <a:rPr sz="2700" dirty="0">
                <a:solidFill>
                  <a:srgbClr val="E2E8F0"/>
                </a:solidFill>
              </a:rPr>
              <a:t> </a:t>
            </a:r>
            <a:r>
              <a:rPr sz="2700" dirty="0" err="1">
                <a:solidFill>
                  <a:srgbClr val="E2E8F0"/>
                </a:solidFill>
              </a:rPr>
              <a:t>dominio</a:t>
            </a:r>
            <a:r>
              <a:rPr sz="2700" dirty="0">
                <a:solidFill>
                  <a:srgbClr val="E2E8F0"/>
                </a:solidFill>
              </a:rPr>
              <a:t>, con rollout </a:t>
            </a:r>
            <a:r>
              <a:rPr sz="2700" dirty="0" err="1">
                <a:solidFill>
                  <a:srgbClr val="E2E8F0"/>
                </a:solidFill>
              </a:rPr>
              <a:t>controlado</a:t>
            </a:r>
            <a:r>
              <a:rPr sz="2700" dirty="0">
                <a:solidFill>
                  <a:srgbClr val="E2E8F0"/>
                </a:solidFill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1E5E40-CB24-4228-BD37-B0812E7346B2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2476500" cy="47625"/>
          </a:xfrm>
          <a:prstGeom prst="rect">
            <a:avLst/>
          </a:prstGeom>
          <a:solidFill>
            <a:srgbClr val="00FFE0"/>
          </a:solidFill>
          <a:ln w="0">
            <a:solidFill>
              <a:srgbClr val="00FF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7ECCD-1841-463F-AF99-BF23B71C4B74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103441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20000"/>
              </a:lnSpc>
              <a:buNone/>
              <a:defRPr sz="2550" b="1">
                <a:solidFill>
                  <a:srgbClr val="00FFE0"/>
                </a:solidFill>
              </a:defRPr>
            </a:pPr>
            <a:endParaRPr sz="2550" b="1" dirty="0">
              <a:solidFill>
                <a:srgbClr val="00FF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F5453A-5E1F-4033-A131-185E0E639D72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164592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>
                <a:solidFill>
                  <a:srgbClr val="FFFFFF"/>
                </a:solidFill>
              </a:defRPr>
            </a:pPr>
            <a:r>
              <a:rPr lang="en-US" sz="6150" b="1" dirty="0">
                <a:solidFill>
                  <a:srgbClr val="FFFFFF"/>
                </a:solidFill>
              </a:rPr>
              <a:t>LIVE CODING…</a:t>
            </a:r>
            <a:endParaRPr sz="615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3870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Macintosh PowerPoint</Application>
  <DocSecurity>0</DocSecurity>
  <PresentationFormat>Custom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2026-04-23T22:14:43Z</dcterms:created>
  <dcterms:modified xsi:type="dcterms:W3CDTF">2026-04-25T04:50:34Z</dcterms:modified>
</cp:coreProperties>
</file>